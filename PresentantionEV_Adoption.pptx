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1680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DBC10-9E9A-492A-BB4C-4026CCD27FD9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41583-7C00-4B31-AFBF-99496CFC33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0904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C07AE-8755-A623-79E8-0788AF14A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021596E3-579D-675C-3A39-48D558BAED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478CEE35-DD47-F21F-E5B1-8571F33675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BE93F592-D2AD-6ABD-EA72-F7002A63C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65B1E0-D791-45CB-934D-83E6090821CD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04050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24462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9628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1947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7644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914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07499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650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516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1313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0865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3697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29558-1C25-4B84-8B2A-BC68C4A0CDF1}" type="datetimeFigureOut">
              <a:rPr lang="en-IE" smtClean="0"/>
              <a:t>24/05/2026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F89ED-F798-42B5-A70E-8198F8C9B2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063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DEA7E-AFF0-3771-1363-9A81CDBF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81">
            <a:extLst>
              <a:ext uri="{FF2B5EF4-FFF2-40B4-BE49-F238E27FC236}">
                <a16:creationId xmlns:a16="http://schemas.microsoft.com/office/drawing/2014/main" id="{93FD83C5-069E-74DC-7959-72F4880CF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2482"/>
            <a:ext cx="9144000" cy="305518"/>
          </a:xfrm>
          <a:prstGeom prst="rect">
            <a:avLst/>
          </a:prstGeom>
          <a:solidFill>
            <a:srgbClr val="0066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917" b="1">
              <a:solidFill>
                <a:srgbClr val="D11242"/>
              </a:solidFill>
              <a:cs typeface="Arial" panose="020B0604020202020204" pitchFamily="34" charset="0"/>
            </a:endParaRPr>
          </a:p>
        </p:txBody>
      </p:sp>
      <p:sp>
        <p:nvSpPr>
          <p:cNvPr id="3076" name="Rectangle 9">
            <a:extLst>
              <a:ext uri="{FF2B5EF4-FFF2-40B4-BE49-F238E27FC236}">
                <a16:creationId xmlns:a16="http://schemas.microsoft.com/office/drawing/2014/main" id="{4160EE50-4CB1-8CA2-997A-D2F7D5B3E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052" y="6567945"/>
            <a:ext cx="6357665" cy="2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917" b="1" dirty="0">
                <a:solidFill>
                  <a:schemeClr val="bg1"/>
                </a:solidFill>
                <a:cs typeface="Arial" panose="020B0604020202020204" pitchFamily="34" charset="0"/>
              </a:rPr>
              <a:t>Our </a:t>
            </a:r>
            <a:r>
              <a:rPr lang="en-GB" altLang="en-US" sz="917" b="1" dirty="0" err="1">
                <a:solidFill>
                  <a:schemeClr val="bg1"/>
                </a:solidFill>
                <a:cs typeface="Arial" panose="020B0604020202020204" pitchFamily="34" charset="0"/>
              </a:rPr>
              <a:t>Dedication.Your</a:t>
            </a:r>
            <a:r>
              <a:rPr lang="en-GB" altLang="en-US" sz="917" b="1" dirty="0">
                <a:solidFill>
                  <a:schemeClr val="bg1"/>
                </a:solidFill>
                <a:cs typeface="Arial" panose="020B0604020202020204" pitchFamily="34" charset="0"/>
              </a:rPr>
              <a:t> Journey.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6AEE3C8-48C0-8A89-CFA4-F16B1AB2A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380" y="6591993"/>
            <a:ext cx="2031925" cy="2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GB" altLang="en-US" sz="917" b="1" dirty="0">
                <a:solidFill>
                  <a:schemeClr val="bg1"/>
                </a:solidFill>
                <a:cs typeface="Arial" panose="020B0604020202020204" pitchFamily="34" charset="0"/>
              </a:rPr>
              <a:t>www.cct.ie</a:t>
            </a:r>
          </a:p>
        </p:txBody>
      </p:sp>
      <p:grpSp>
        <p:nvGrpSpPr>
          <p:cNvPr id="3078" name="Group 26">
            <a:extLst>
              <a:ext uri="{FF2B5EF4-FFF2-40B4-BE49-F238E27FC236}">
                <a16:creationId xmlns:a16="http://schemas.microsoft.com/office/drawing/2014/main" id="{54EB672D-AD3F-097E-A31D-402013E9F59D}"/>
              </a:ext>
            </a:extLst>
          </p:cNvPr>
          <p:cNvGrpSpPr>
            <a:grpSpLocks/>
          </p:cNvGrpSpPr>
          <p:nvPr/>
        </p:nvGrpSpPr>
        <p:grpSpPr bwMode="auto">
          <a:xfrm>
            <a:off x="208052" y="3615977"/>
            <a:ext cx="2189102" cy="258854"/>
            <a:chOff x="943194" y="16379716"/>
            <a:chExt cx="12887106" cy="1523769"/>
          </a:xfrm>
        </p:grpSpPr>
        <p:sp>
          <p:nvSpPr>
            <p:cNvPr id="3103" name="Rectangle 249">
              <a:extLst>
                <a:ext uri="{FF2B5EF4-FFF2-40B4-BE49-F238E27FC236}">
                  <a16:creationId xmlns:a16="http://schemas.microsoft.com/office/drawing/2014/main" id="{98A5429B-99DC-95F6-19AE-2BCA8C808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94" y="16657905"/>
              <a:ext cx="12887106" cy="1245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just">
                <a:lnSpc>
                  <a:spcPts val="850"/>
                </a:lnSpc>
                <a:spcBef>
                  <a:spcPts val="306"/>
                </a:spcBef>
                <a:defRPr/>
              </a:pPr>
              <a:r>
                <a:rPr lang="en-GB" altLang="en-US" sz="1121" b="1" dirty="0">
                  <a:solidFill>
                    <a:srgbClr val="006684"/>
                  </a:solidFill>
                  <a:latin typeface="Helvetica" panose="020B0604020202020204" pitchFamily="34" charset="0"/>
                </a:rPr>
                <a:t>Data Understanding</a:t>
              </a:r>
            </a:p>
          </p:txBody>
        </p:sp>
        <p:cxnSp>
          <p:nvCxnSpPr>
            <p:cNvPr id="3104" name="Straight Connector 6">
              <a:extLst>
                <a:ext uri="{FF2B5EF4-FFF2-40B4-BE49-F238E27FC236}">
                  <a16:creationId xmlns:a16="http://schemas.microsoft.com/office/drawing/2014/main" id="{8F507EAC-703C-07C4-2232-006A99F09F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84786" y="16379716"/>
              <a:ext cx="12745514" cy="1"/>
            </a:xfrm>
            <a:prstGeom prst="line">
              <a:avLst/>
            </a:prstGeom>
            <a:noFill/>
            <a:ln w="12700">
              <a:solidFill>
                <a:srgbClr val="00668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Rectangle 24">
            <a:extLst>
              <a:ext uri="{FF2B5EF4-FFF2-40B4-BE49-F238E27FC236}">
                <a16:creationId xmlns:a16="http://schemas.microsoft.com/office/drawing/2014/main" id="{982AA2F2-7F8C-8CFA-A3FF-D2B563CF8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98" y="1057570"/>
            <a:ext cx="2197462" cy="205440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Can fuel prices, government grants, and time predict EV adoption in Ireland?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Ireland targets significant EV growth by 2030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-Transport sector heavily dependent on petrol and diesel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EV adoption influenced by fuel costs, grants, and market trends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Project uses CRISP-DM framework and machine learning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Dataset covers 2015–2024 annual observations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Decision-support tool for policymakers and analysts</a:t>
            </a:r>
          </a:p>
        </p:txBody>
      </p:sp>
      <p:sp>
        <p:nvSpPr>
          <p:cNvPr id="3080" name="Rectangle 86">
            <a:extLst>
              <a:ext uri="{FF2B5EF4-FFF2-40B4-BE49-F238E27FC236}">
                <a16:creationId xmlns:a16="http://schemas.microsoft.com/office/drawing/2014/main" id="{2254BC73-1087-53E0-77CC-B80BF995C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92" y="3819635"/>
            <a:ext cx="2026192" cy="2516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Four datasets combined into one modelling dataset: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IEA Global EV Data Explorer — annual BEV sales, Ireland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CSO CPM12 — monthly fuel prices, aggregated to yearly average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SEAI Grant Data — manually compiled annual grant values 2011–2024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CSO ETA02 — environmental tax data, used for context only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Strong correlations found year (~0.90) and fuel price (~0.90) with EV salesGrant value showed negative correlation (-0.80) — reflects timing, not causation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No missing values in final modelling dataset (10 rows, 2015–2024)</a:t>
            </a:r>
          </a:p>
        </p:txBody>
      </p:sp>
      <p:sp>
        <p:nvSpPr>
          <p:cNvPr id="3081" name="Rectangle 20">
            <a:extLst>
              <a:ext uri="{FF2B5EF4-FFF2-40B4-BE49-F238E27FC236}">
                <a16:creationId xmlns:a16="http://schemas.microsoft.com/office/drawing/2014/main" id="{B5F48AA4-4765-D9C1-3931-AA7B142CA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638" y="1984746"/>
            <a:ext cx="2172113" cy="155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408">
              <a:cs typeface="Arial" panose="020B0604020202020204" pitchFamily="34" charset="0"/>
            </a:endParaRPr>
          </a:p>
        </p:txBody>
      </p:sp>
      <p:sp>
        <p:nvSpPr>
          <p:cNvPr id="3083" name="Rectangle 30">
            <a:extLst>
              <a:ext uri="{FF2B5EF4-FFF2-40B4-BE49-F238E27FC236}">
                <a16:creationId xmlns:a16="http://schemas.microsoft.com/office/drawing/2014/main" id="{8A8BA9C8-39D1-BD1E-6917-35754C0CB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5363" y="2346938"/>
            <a:ext cx="87909" cy="18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611" b="1"/>
          </a:p>
        </p:txBody>
      </p:sp>
      <p:sp>
        <p:nvSpPr>
          <p:cNvPr id="3084" name="Rectangle 102">
            <a:extLst>
              <a:ext uri="{FF2B5EF4-FFF2-40B4-BE49-F238E27FC236}">
                <a16:creationId xmlns:a16="http://schemas.microsoft.com/office/drawing/2014/main" id="{CDBF055F-8878-329B-3F18-B9F9B8C80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798" y="3886614"/>
            <a:ext cx="87909" cy="18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611" b="1"/>
          </a:p>
        </p:txBody>
      </p:sp>
      <p:sp>
        <p:nvSpPr>
          <p:cNvPr id="14366" name="Rectangle 106">
            <a:extLst>
              <a:ext uri="{FF2B5EF4-FFF2-40B4-BE49-F238E27FC236}">
                <a16:creationId xmlns:a16="http://schemas.microsoft.com/office/drawing/2014/main" id="{6DD271D0-BF4D-8D6B-552A-70EF6ECC6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829" y="1119521"/>
            <a:ext cx="2197462" cy="11310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 IEA data filtered to Ireland, BEV cars, EV sales parameter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Monthly fuel prices aggregated to yearly averages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Three features selected: </a:t>
            </a:r>
            <a:r>
              <a:rPr lang="en-GB" altLang="en-US" sz="900" dirty="0" err="1">
                <a:latin typeface="Helvetica" panose="020B0604020202020204" pitchFamily="34" charset="0"/>
              </a:rPr>
              <a:t>fuel_price</a:t>
            </a:r>
            <a:r>
              <a:rPr lang="en-GB" altLang="en-US" sz="900" dirty="0">
                <a:latin typeface="Helvetica" panose="020B0604020202020204" pitchFamily="34" charset="0"/>
              </a:rPr>
              <a:t>, year, grant_value80/20 train/test split + 5-fold cross-validation applied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Four models trained and compared:</a:t>
            </a:r>
            <a:endParaRPr lang="en-GB" sz="900" dirty="0">
              <a:latin typeface="Arial" charset="0"/>
              <a:ea typeface="ＭＳ Ｐゴシック" charset="0"/>
              <a:cs typeface="Arial" charset="0"/>
            </a:endParaRPr>
          </a:p>
        </p:txBody>
      </p:sp>
      <p:grpSp>
        <p:nvGrpSpPr>
          <p:cNvPr id="3086" name="Group 107">
            <a:extLst>
              <a:ext uri="{FF2B5EF4-FFF2-40B4-BE49-F238E27FC236}">
                <a16:creationId xmlns:a16="http://schemas.microsoft.com/office/drawing/2014/main" id="{AF84F767-28EB-545B-903F-20D3A6720309}"/>
              </a:ext>
            </a:extLst>
          </p:cNvPr>
          <p:cNvGrpSpPr>
            <a:grpSpLocks/>
          </p:cNvGrpSpPr>
          <p:nvPr/>
        </p:nvGrpSpPr>
        <p:grpSpPr bwMode="auto">
          <a:xfrm>
            <a:off x="2978352" y="660214"/>
            <a:ext cx="2188832" cy="437299"/>
            <a:chOff x="14894284" y="5068979"/>
            <a:chExt cx="12887106" cy="2574221"/>
          </a:xfrm>
        </p:grpSpPr>
        <p:sp>
          <p:nvSpPr>
            <p:cNvPr id="3101" name="Rectangle 249">
              <a:extLst>
                <a:ext uri="{FF2B5EF4-FFF2-40B4-BE49-F238E27FC236}">
                  <a16:creationId xmlns:a16="http://schemas.microsoft.com/office/drawing/2014/main" id="{2346AE4B-E5C5-3319-201F-3BA5F63DE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4284" y="5068979"/>
              <a:ext cx="12887106" cy="2574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en-US" sz="1121" b="1" dirty="0">
                  <a:solidFill>
                    <a:srgbClr val="006684"/>
                  </a:solidFill>
                  <a:cs typeface="Arial" panose="020B0604020202020204" pitchFamily="34" charset="0"/>
                </a:rPr>
                <a:t> Data Preparation &amp; Modelling</a:t>
              </a:r>
              <a:endParaRPr lang="en-US" altLang="en-US" sz="1121" dirty="0">
                <a:solidFill>
                  <a:srgbClr val="006684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3102" name="Straight Connector 6">
              <a:extLst>
                <a:ext uri="{FF2B5EF4-FFF2-40B4-BE49-F238E27FC236}">
                  <a16:creationId xmlns:a16="http://schemas.microsoft.com/office/drawing/2014/main" id="{CCF1A68C-718D-8756-14B5-0FADCCC771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5019206" y="5195636"/>
              <a:ext cx="12745514" cy="1"/>
            </a:xfrm>
            <a:prstGeom prst="line">
              <a:avLst/>
            </a:prstGeom>
            <a:noFill/>
            <a:ln w="12700">
              <a:solidFill>
                <a:srgbClr val="00668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90" name="Rectangle 6">
            <a:extLst>
              <a:ext uri="{FF2B5EF4-FFF2-40B4-BE49-F238E27FC236}">
                <a16:creationId xmlns:a16="http://schemas.microsoft.com/office/drawing/2014/main" id="{BDD76730-9616-8535-7915-51B51894D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-6614"/>
            <a:ext cx="9144001" cy="545523"/>
          </a:xfrm>
          <a:prstGeom prst="rect">
            <a:avLst/>
          </a:prstGeom>
          <a:solidFill>
            <a:srgbClr val="0066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 sz="1121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091" name="TextBox 26">
            <a:extLst>
              <a:ext uri="{FF2B5EF4-FFF2-40B4-BE49-F238E27FC236}">
                <a16:creationId xmlns:a16="http://schemas.microsoft.com/office/drawing/2014/main" id="{0979E151-000E-D7E8-2997-A2F304DAA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57" y="92102"/>
            <a:ext cx="5549398" cy="259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ts val="1291"/>
              </a:lnSpc>
            </a:pPr>
            <a:r>
              <a:rPr lang="en-GB" altLang="en-US" sz="1359" b="1" dirty="0">
                <a:solidFill>
                  <a:schemeClr val="bg1"/>
                </a:solidFill>
                <a:cs typeface="Arial" panose="020B0604020202020204" pitchFamily="34" charset="0"/>
              </a:rPr>
              <a:t>Predicting Electric Vehicle Adoption in Ireland</a:t>
            </a:r>
          </a:p>
        </p:txBody>
      </p:sp>
      <p:sp>
        <p:nvSpPr>
          <p:cNvPr id="3092" name="Rectangle 6">
            <a:extLst>
              <a:ext uri="{FF2B5EF4-FFF2-40B4-BE49-F238E27FC236}">
                <a16:creationId xmlns:a16="http://schemas.microsoft.com/office/drawing/2014/main" id="{DE26EA11-D857-CFAD-CD9B-4979E7F07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375" y="340796"/>
            <a:ext cx="7528298" cy="169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578"/>
              </a:lnSpc>
            </a:pPr>
            <a:r>
              <a:rPr lang="en-GB" altLang="en-US" sz="680" b="1" dirty="0">
                <a:solidFill>
                  <a:schemeClr val="bg1"/>
                </a:solidFill>
                <a:cs typeface="Arial" panose="020B0604020202020204" pitchFamily="34" charset="0"/>
              </a:rPr>
              <a:t>Guilherme Munhoz | Student Number 2022448 | Capstone Project</a:t>
            </a:r>
          </a:p>
        </p:txBody>
      </p:sp>
      <p:pic>
        <p:nvPicPr>
          <p:cNvPr id="3093" name="Picture 3" descr="A blue and black text&#10;&#10;Description automatically generated">
            <a:extLst>
              <a:ext uri="{FF2B5EF4-FFF2-40B4-BE49-F238E27FC236}">
                <a16:creationId xmlns:a16="http://schemas.microsoft.com/office/drawing/2014/main" id="{21E8948B-5D6D-C7E7-7F4E-B5FD75624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3190" y="114193"/>
            <a:ext cx="1279121" cy="303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94" name="Group 107">
            <a:extLst>
              <a:ext uri="{FF2B5EF4-FFF2-40B4-BE49-F238E27FC236}">
                <a16:creationId xmlns:a16="http://schemas.microsoft.com/office/drawing/2014/main" id="{0FE8EFD7-E252-2440-3534-41DB5963789A}"/>
              </a:ext>
            </a:extLst>
          </p:cNvPr>
          <p:cNvGrpSpPr>
            <a:grpSpLocks/>
          </p:cNvGrpSpPr>
          <p:nvPr/>
        </p:nvGrpSpPr>
        <p:grpSpPr bwMode="auto">
          <a:xfrm>
            <a:off x="5905217" y="700160"/>
            <a:ext cx="2590340" cy="273076"/>
            <a:chOff x="14666028" y="5294535"/>
            <a:chExt cx="15249167" cy="1607055"/>
          </a:xfrm>
        </p:grpSpPr>
        <p:sp>
          <p:nvSpPr>
            <p:cNvPr id="3099" name="Rectangle 249">
              <a:extLst>
                <a:ext uri="{FF2B5EF4-FFF2-40B4-BE49-F238E27FC236}">
                  <a16:creationId xmlns:a16="http://schemas.microsoft.com/office/drawing/2014/main" id="{D094BF40-6C48-EC49-54D5-C84197F01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5307" y="5343145"/>
              <a:ext cx="15169888" cy="1558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121" dirty="0">
                <a:solidFill>
                  <a:srgbClr val="006684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3100" name="Straight Connector 6">
              <a:extLst>
                <a:ext uri="{FF2B5EF4-FFF2-40B4-BE49-F238E27FC236}">
                  <a16:creationId xmlns:a16="http://schemas.microsoft.com/office/drawing/2014/main" id="{6DFC0471-0773-D960-A906-590504129C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4666028" y="5294535"/>
              <a:ext cx="12745514" cy="1"/>
            </a:xfrm>
            <a:prstGeom prst="line">
              <a:avLst/>
            </a:prstGeom>
            <a:noFill/>
            <a:ln w="12700">
              <a:solidFill>
                <a:srgbClr val="00668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" name="Rectangle 24">
            <a:extLst>
              <a:ext uri="{FF2B5EF4-FFF2-40B4-BE49-F238E27FC236}">
                <a16:creationId xmlns:a16="http://schemas.microsoft.com/office/drawing/2014/main" id="{4C99BCFB-57DE-5D49-980B-1FEC3B96C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199" y="3636873"/>
            <a:ext cx="2197462" cy="2323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Final model selected: Model 3 — Multiple Linear Regression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Chosen for interpretability over marginal accuracy gain vs Random Forest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R² = 0.67, MSE = 30,209,100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K-fold MAE: Linear Regression ~2,794 | Random Forest ~2,311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Negative R² in cross-validation reflects dataset size limitation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Grant paradox: grants decreased while EV sales rose — correlation, not causation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Small dataset (10 rows) limits statistical reliability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Model captures correlation, not direct causation</a:t>
            </a: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13CBBBBC-D094-D623-0913-8E332EA23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904" y="975808"/>
            <a:ext cx="2267034" cy="193899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 - Scenario simulation prototype built in </a:t>
            </a:r>
            <a:r>
              <a:rPr lang="en-GB" altLang="en-US" sz="900" dirty="0" err="1">
                <a:latin typeface="Helvetica" panose="020B0604020202020204" pitchFamily="34" charset="0"/>
              </a:rPr>
              <a:t>Jupyter</a:t>
            </a:r>
            <a:r>
              <a:rPr lang="en-GB" altLang="en-US" sz="900" dirty="0">
                <a:latin typeface="Helvetica" panose="020B0604020202020204" pitchFamily="34" charset="0"/>
              </a:rPr>
              <a:t> Notebook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User inputs: </a:t>
            </a:r>
            <a:r>
              <a:rPr lang="en-GB" altLang="en-US" sz="900" dirty="0" err="1">
                <a:latin typeface="Helvetica" panose="020B0604020202020204" pitchFamily="34" charset="0"/>
              </a:rPr>
              <a:t>fuel_price</a:t>
            </a:r>
            <a:r>
              <a:rPr lang="en-GB" altLang="en-US" sz="900" dirty="0">
                <a:latin typeface="Helvetica" panose="020B0604020202020204" pitchFamily="34" charset="0"/>
              </a:rPr>
              <a:t>, year, </a:t>
            </a:r>
            <a:r>
              <a:rPr lang="en-GB" altLang="en-US" sz="900" dirty="0" err="1">
                <a:latin typeface="Helvetica" panose="020B0604020202020204" pitchFamily="34" charset="0"/>
              </a:rPr>
              <a:t>grant_value</a:t>
            </a:r>
            <a:endParaRPr lang="en-GB" altLang="en-US" sz="900" dirty="0">
              <a:latin typeface="Helvetica" panose="020B0604020202020204" pitchFamily="34" charset="0"/>
            </a:endParaRP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Output: predicted annual BEV sales in Ireland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Baseline 2025 prediction: ~19,085 EVs (fuel €1.80, grant €3,500)</a:t>
            </a: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Higher fuel price (€2.00) → predicted ~22,824 </a:t>
            </a:r>
            <a:r>
              <a:rPr lang="en-GB" altLang="en-US" sz="900" dirty="0" err="1">
                <a:latin typeface="Helvetica" panose="020B0604020202020204" pitchFamily="34" charset="0"/>
              </a:rPr>
              <a:t>Evs</a:t>
            </a:r>
            <a:endParaRPr lang="en-GB" altLang="en-US" sz="900" dirty="0">
              <a:latin typeface="Helvetica" panose="020B0604020202020204" pitchFamily="34" charset="0"/>
            </a:endParaRP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Lower fuel price (€1.60) → predicted ~15,346 </a:t>
            </a:r>
            <a:r>
              <a:rPr lang="en-GB" altLang="en-US" sz="900" dirty="0" err="1">
                <a:latin typeface="Helvetica" panose="020B0604020202020204" pitchFamily="34" charset="0"/>
              </a:rPr>
              <a:t>Evs</a:t>
            </a:r>
            <a:endParaRPr lang="en-GB" altLang="en-US" sz="900" dirty="0">
              <a:latin typeface="Helvetica" panose="020B0604020202020204" pitchFamily="34" charset="0"/>
            </a:endParaRPr>
          </a:p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900" dirty="0">
                <a:latin typeface="Helvetica" panose="020B0604020202020204" pitchFamily="34" charset="0"/>
              </a:rPr>
              <a:t>- Future potential: </a:t>
            </a:r>
            <a:r>
              <a:rPr lang="en-GB" altLang="en-US" sz="900" dirty="0" err="1">
                <a:latin typeface="Helvetica" panose="020B0604020202020204" pitchFamily="34" charset="0"/>
              </a:rPr>
              <a:t>Streamlit</a:t>
            </a:r>
            <a:r>
              <a:rPr lang="en-GB" altLang="en-US" sz="900" dirty="0">
                <a:latin typeface="Helvetica" panose="020B0604020202020204" pitchFamily="34" charset="0"/>
              </a:rPr>
              <a:t> dashboard, annual data updates, additional features</a:t>
            </a:r>
          </a:p>
        </p:txBody>
      </p:sp>
      <p:grpSp>
        <p:nvGrpSpPr>
          <p:cNvPr id="4" name="Group 107">
            <a:extLst>
              <a:ext uri="{FF2B5EF4-FFF2-40B4-BE49-F238E27FC236}">
                <a16:creationId xmlns:a16="http://schemas.microsoft.com/office/drawing/2014/main" id="{40905DDF-A1EF-5066-9CD5-6C4564E670E1}"/>
              </a:ext>
            </a:extLst>
          </p:cNvPr>
          <p:cNvGrpSpPr>
            <a:grpSpLocks/>
          </p:cNvGrpSpPr>
          <p:nvPr/>
        </p:nvGrpSpPr>
        <p:grpSpPr bwMode="auto">
          <a:xfrm>
            <a:off x="159959" y="714051"/>
            <a:ext cx="2188832" cy="277962"/>
            <a:chOff x="14894284" y="5114968"/>
            <a:chExt cx="12887106" cy="1636253"/>
          </a:xfrm>
        </p:grpSpPr>
        <p:sp>
          <p:nvSpPr>
            <p:cNvPr id="5" name="Rectangle 249">
              <a:extLst>
                <a:ext uri="{FF2B5EF4-FFF2-40B4-BE49-F238E27FC236}">
                  <a16:creationId xmlns:a16="http://schemas.microsoft.com/office/drawing/2014/main" id="{E53F519E-637F-CF94-ABBB-E2A43C7FD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4284" y="5192353"/>
              <a:ext cx="12887106" cy="1558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en-US" sz="1121" b="1" dirty="0">
                  <a:solidFill>
                    <a:srgbClr val="006684"/>
                  </a:solidFill>
                  <a:cs typeface="Arial" panose="020B0604020202020204" pitchFamily="34" charset="0"/>
                </a:rPr>
                <a:t> Business Understanding</a:t>
              </a:r>
              <a:endParaRPr lang="en-US" altLang="en-US" sz="1121" dirty="0">
                <a:solidFill>
                  <a:srgbClr val="006684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6" name="Straight Connector 6">
              <a:extLst>
                <a:ext uri="{FF2B5EF4-FFF2-40B4-BE49-F238E27FC236}">
                  <a16:creationId xmlns:a16="http://schemas.microsoft.com/office/drawing/2014/main" id="{645FDF8A-DF11-68E8-B849-8A4A8B12A1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5035876" y="5114968"/>
              <a:ext cx="12745514" cy="1"/>
            </a:xfrm>
            <a:prstGeom prst="line">
              <a:avLst/>
            </a:prstGeom>
            <a:noFill/>
            <a:ln w="12700">
              <a:solidFill>
                <a:srgbClr val="00668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107">
            <a:extLst>
              <a:ext uri="{FF2B5EF4-FFF2-40B4-BE49-F238E27FC236}">
                <a16:creationId xmlns:a16="http://schemas.microsoft.com/office/drawing/2014/main" id="{FD3CCAE4-A0DD-6443-8A26-81B373FCDC08}"/>
              </a:ext>
            </a:extLst>
          </p:cNvPr>
          <p:cNvGrpSpPr>
            <a:grpSpLocks/>
          </p:cNvGrpSpPr>
          <p:nvPr/>
        </p:nvGrpSpPr>
        <p:grpSpPr bwMode="auto">
          <a:xfrm>
            <a:off x="5905217" y="3065024"/>
            <a:ext cx="2397534" cy="297871"/>
            <a:chOff x="15019206" y="5195636"/>
            <a:chExt cx="12957512" cy="697905"/>
          </a:xfrm>
        </p:grpSpPr>
        <p:sp>
          <p:nvSpPr>
            <p:cNvPr id="8" name="Rectangle 249">
              <a:extLst>
                <a:ext uri="{FF2B5EF4-FFF2-40B4-BE49-F238E27FC236}">
                  <a16:creationId xmlns:a16="http://schemas.microsoft.com/office/drawing/2014/main" id="{6E67E608-3FC2-C24E-4E3E-F910E3458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89613" y="5273083"/>
              <a:ext cx="12887105" cy="620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en-US" sz="1121" b="1" dirty="0">
                  <a:solidFill>
                    <a:srgbClr val="006684"/>
                  </a:solidFill>
                  <a:cs typeface="Arial" panose="020B0604020202020204" pitchFamily="34" charset="0"/>
                </a:rPr>
                <a:t>Conclusion</a:t>
              </a:r>
              <a:endParaRPr lang="en-US" altLang="en-US" sz="1121" dirty="0">
                <a:solidFill>
                  <a:srgbClr val="006684"/>
                </a:solidFill>
                <a:cs typeface="Arial" panose="020B0604020202020204" pitchFamily="34" charset="0"/>
              </a:endParaRPr>
            </a:p>
          </p:txBody>
        </p:sp>
        <p:cxnSp>
          <p:nvCxnSpPr>
            <p:cNvPr id="9" name="Straight Connector 6">
              <a:extLst>
                <a:ext uri="{FF2B5EF4-FFF2-40B4-BE49-F238E27FC236}">
                  <a16:creationId xmlns:a16="http://schemas.microsoft.com/office/drawing/2014/main" id="{76F7519E-BDEA-56AF-8243-6AD50C7F632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5019206" y="5195636"/>
              <a:ext cx="12745514" cy="1"/>
            </a:xfrm>
            <a:prstGeom prst="line">
              <a:avLst/>
            </a:prstGeom>
            <a:noFill/>
            <a:ln w="12700">
              <a:solidFill>
                <a:srgbClr val="00668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" name="Rectangle 24">
            <a:extLst>
              <a:ext uri="{FF2B5EF4-FFF2-40B4-BE49-F238E27FC236}">
                <a16:creationId xmlns:a16="http://schemas.microsoft.com/office/drawing/2014/main" id="{743C69A6-E1DC-30B0-7047-0EB7DC4BE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563" y="3463099"/>
            <a:ext cx="2136780" cy="21587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TEXTETXTETXTETXTTEXT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TEXTETXTETXTETXTT</a:t>
            </a:r>
            <a:endParaRPr lang="en-GB" altLang="en-US" sz="611" dirty="0">
              <a:latin typeface="Helvetica" panose="020B0604020202020204" pitchFamily="34" charset="0"/>
            </a:endParaRPr>
          </a:p>
        </p:txBody>
      </p:sp>
      <p:sp>
        <p:nvSpPr>
          <p:cNvPr id="12" name="Rectangle 249">
            <a:extLst>
              <a:ext uri="{FF2B5EF4-FFF2-40B4-BE49-F238E27FC236}">
                <a16:creationId xmlns:a16="http://schemas.microsoft.com/office/drawing/2014/main" id="{0EECE4E9-11AD-8740-0DF0-F6397D072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829" y="3254058"/>
            <a:ext cx="2188832" cy="264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GB" altLang="en-US" sz="1121" b="1" dirty="0">
                <a:solidFill>
                  <a:srgbClr val="006684"/>
                </a:solidFill>
                <a:cs typeface="Arial" panose="020B0604020202020204" pitchFamily="34" charset="0"/>
              </a:rPr>
              <a:t>Evaluation</a:t>
            </a:r>
            <a:endParaRPr lang="en-US" altLang="en-US" sz="1121" dirty="0">
              <a:solidFill>
                <a:srgbClr val="006684"/>
              </a:solidFill>
              <a:cs typeface="Arial" panose="020B0604020202020204" pitchFamily="34" charset="0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CA57D06C-C4F3-5DFE-BDC4-B5C3C778282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99569" y="3192125"/>
            <a:ext cx="2164784" cy="0"/>
          </a:xfrm>
          <a:prstGeom prst="line">
            <a:avLst/>
          </a:prstGeom>
          <a:noFill/>
          <a:ln w="12700">
            <a:solidFill>
              <a:srgbClr val="00668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ectangle 249">
            <a:extLst>
              <a:ext uri="{FF2B5EF4-FFF2-40B4-BE49-F238E27FC236}">
                <a16:creationId xmlns:a16="http://schemas.microsoft.com/office/drawing/2014/main" id="{9A87B7BC-2F06-EAE7-2143-852B17901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462" y="692165"/>
            <a:ext cx="2188832" cy="264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GB" altLang="en-US" sz="1121" b="1" dirty="0">
                <a:solidFill>
                  <a:srgbClr val="006684"/>
                </a:solidFill>
                <a:cs typeface="Arial" panose="020B0604020202020204" pitchFamily="34" charset="0"/>
              </a:rPr>
              <a:t>Deployment</a:t>
            </a:r>
            <a:endParaRPr lang="en-US" altLang="en-US" sz="1121" dirty="0">
              <a:solidFill>
                <a:srgbClr val="006684"/>
              </a:solidFill>
              <a:cs typeface="Arial" panose="020B0604020202020204" pitchFamily="34" charset="0"/>
            </a:endParaRP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4F83E7E2-8352-E2B9-983A-0E25DE3D8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6891" y="2285809"/>
            <a:ext cx="2197462" cy="77380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ts val="850"/>
              </a:lnSpc>
              <a:spcBef>
                <a:spcPts val="306"/>
              </a:spcBef>
              <a:defRPr/>
            </a:pP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TABLE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r>
              <a:rPr lang="en-GB" altLang="en-US" sz="611" dirty="0">
                <a:solidFill>
                  <a:schemeClr val="accent6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611" dirty="0" err="1">
                <a:solidFill>
                  <a:schemeClr val="accent6"/>
                </a:solidFill>
                <a:latin typeface="Helvetica" panose="020B0604020202020204" pitchFamily="34" charset="0"/>
              </a:rPr>
              <a:t>TABLE</a:t>
            </a:r>
            <a:endParaRPr lang="en-GB" altLang="en-US" sz="611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553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485</Words>
  <Application>Microsoft Office PowerPoint</Application>
  <PresentationFormat>On-screen Show (4:3)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Franco Munhoz</dc:creator>
  <cp:lastModifiedBy>Guilherme Franco Munhoz</cp:lastModifiedBy>
  <cp:revision>3</cp:revision>
  <dcterms:created xsi:type="dcterms:W3CDTF">2026-04-14T19:27:42Z</dcterms:created>
  <dcterms:modified xsi:type="dcterms:W3CDTF">2026-05-23T23:13:08Z</dcterms:modified>
</cp:coreProperties>
</file>